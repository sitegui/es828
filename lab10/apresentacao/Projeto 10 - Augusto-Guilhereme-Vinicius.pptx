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15"/>
  </p:notesMasterIdLst>
  <p:sldIdLst>
    <p:sldId id="256" r:id="rId2"/>
    <p:sldId id="258" r:id="rId3"/>
    <p:sldId id="259" r:id="rId4"/>
    <p:sldId id="257" r:id="rId5"/>
    <p:sldId id="260" r:id="rId6"/>
    <p:sldId id="270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02" y="-3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6A0F26-9B60-4B38-AC42-ED18EBBC8C57}" type="datetimeFigureOut">
              <a:rPr lang="pt-BR" smtClean="0"/>
              <a:t>20/06/2015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2B7A82-F351-430A-9421-B35340673F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7553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2B7A82-F351-430A-9421-B35340673FD6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0460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010400" y="152399"/>
            <a:ext cx="1981200" cy="6556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400" y="153923"/>
            <a:ext cx="6705600" cy="6553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10400" y="2052960"/>
            <a:ext cx="1981200" cy="1828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9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CEE50A4-59EC-442D-9CC5-E9AD2F2F923F}" type="datetimeFigureOut">
              <a:rPr lang="pt-BR" smtClean="0"/>
              <a:t>20/06/2015</a:t>
            </a:fld>
            <a:endParaRPr lang="pt-BR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DA596CD-2F16-4D6F-A3B8-940AFE0EC35F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pt-BR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457200" y="2052960"/>
            <a:ext cx="6324600" cy="1828800"/>
          </a:xfrm>
        </p:spPr>
        <p:txBody>
          <a:bodyPr/>
          <a:lstStyle>
            <a:lvl1pPr algn="r">
              <a:defRPr sz="4200" spc="150" baseline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50A4-59EC-442D-9CC5-E9AD2F2F923F}" type="datetimeFigureOut">
              <a:rPr lang="pt-BR" smtClean="0"/>
              <a:t>20/06/2015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6CD-2F16-4D6F-A3B8-940AFE0EC35F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010400" y="152399"/>
            <a:ext cx="1981200" cy="6556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400" y="153923"/>
            <a:ext cx="6705600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62799" y="2892277"/>
            <a:ext cx="1600201" cy="1645920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CEE50A4-59EC-442D-9CC5-E9AD2F2F923F}" type="datetimeFigureOut">
              <a:rPr lang="pt-BR" smtClean="0"/>
              <a:t>20/06/2015</a:t>
            </a:fld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DA596CD-2F16-4D6F-A3B8-940AFE0EC35F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381000" y="2892277"/>
            <a:ext cx="6324600" cy="1645920"/>
          </a:xfrm>
        </p:spPr>
        <p:txBody>
          <a:bodyPr/>
          <a:lstStyle>
            <a:lvl1pPr algn="r">
              <a:defRPr sz="4200" spc="150" baseline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072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2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50A4-59EC-442D-9CC5-E9AD2F2F923F}" type="datetimeFigureOut">
              <a:rPr lang="pt-BR" smtClean="0"/>
              <a:t>20/06/2015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6CD-2F16-4D6F-A3B8-940AFE0EC35F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22438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399"/>
            <a:ext cx="4040188" cy="3687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399"/>
            <a:ext cx="4041775" cy="3687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50A4-59EC-442D-9CC5-E9AD2F2F923F}" type="datetimeFigureOut">
              <a:rPr lang="pt-BR" smtClean="0"/>
              <a:t>20/06/2015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6CD-2F16-4D6F-A3B8-940AFE0EC35F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50A4-59EC-442D-9CC5-E9AD2F2F923F}" type="datetimeFigureOut">
              <a:rPr lang="pt-BR" smtClean="0"/>
              <a:t>20/06/2015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6CD-2F16-4D6F-A3B8-940AFE0EC35F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0" y="150919"/>
            <a:ext cx="8831802" cy="6556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50A4-59EC-442D-9CC5-E9AD2F2F923F}" type="datetimeFigureOut">
              <a:rPr lang="pt-BR" smtClean="0"/>
              <a:t>20/06/2015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6CD-2F16-4D6F-A3B8-940AFE0EC35F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010400" y="150876"/>
            <a:ext cx="1981200" cy="6556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/>
          <p:cNvSpPr/>
          <p:nvPr/>
        </p:nvSpPr>
        <p:spPr>
          <a:xfrm>
            <a:off x="152400" y="152400"/>
            <a:ext cx="6705600" cy="6553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04800"/>
            <a:ext cx="58674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59752" y="2130552"/>
            <a:ext cx="1673352" cy="2816352"/>
          </a:xfrm>
        </p:spPr>
        <p:txBody>
          <a:bodyPr tIns="0"/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50A4-59EC-442D-9CC5-E9AD2F2F923F}" type="datetimeFigureOut">
              <a:rPr lang="pt-BR" smtClean="0"/>
              <a:t>20/06/2015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DA596CD-2F16-4D6F-A3B8-940AFE0EC35F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7159752" y="457200"/>
            <a:ext cx="1675660" cy="1673352"/>
          </a:xfrm>
        </p:spPr>
        <p:txBody>
          <a:bodyPr anchor="b"/>
          <a:lstStyle>
            <a:lvl1pPr algn="l">
              <a:defRPr sz="2000" spc="150" baseline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/>
          <p:cNvSpPr/>
          <p:nvPr/>
        </p:nvSpPr>
        <p:spPr>
          <a:xfrm>
            <a:off x="7010400" y="150876"/>
            <a:ext cx="1981200" cy="65562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2400" y="152400"/>
            <a:ext cx="6705600" cy="6553200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2800" y="2133600"/>
            <a:ext cx="1676400" cy="2971800"/>
          </a:xfrm>
        </p:spPr>
        <p:txBody>
          <a:bodyPr tIns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50A4-59EC-442D-9CC5-E9AD2F2F923F}" type="datetimeFigureOut">
              <a:rPr lang="pt-BR" smtClean="0"/>
              <a:t>20/06/2015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6CD-2F16-4D6F-A3B8-940AFE0EC35F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162800" y="460248"/>
            <a:ext cx="1676400" cy="1673352"/>
          </a:xfrm>
        </p:spPr>
        <p:txBody>
          <a:bodyPr anchor="b"/>
          <a:lstStyle>
            <a:lvl1pPr algn="l">
              <a:defRPr sz="2000" spc="150" baseline="0">
                <a:solidFill>
                  <a:schemeClr val="tx2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50A4-59EC-442D-9CC5-E9AD2F2F923F}" type="datetimeFigureOut">
              <a:rPr lang="pt-BR" smtClean="0"/>
              <a:t>20/06/2015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6CD-2F16-4D6F-A3B8-940AFE0EC35F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52400" y="147319"/>
            <a:ext cx="6705600" cy="6556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010400" y="147319"/>
            <a:ext cx="1956046" cy="6556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62800" y="274638"/>
            <a:ext cx="1676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50A4-59EC-442D-9CC5-E9AD2F2F923F}" type="datetimeFigureOut">
              <a:rPr lang="pt-BR" smtClean="0"/>
              <a:t>20/06/2015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DA596CD-2F16-4D6F-A3B8-940AFE0EC35F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2400" y="1634971"/>
            <a:ext cx="8831802" cy="50454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399" y="152400"/>
            <a:ext cx="8814047" cy="13464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55847"/>
            <a:ext cx="8381260" cy="10543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719071"/>
            <a:ext cx="8407893" cy="4407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0888" y="6356350"/>
            <a:ext cx="2133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fld id="{DCEE50A4-59EC-442D-9CC5-E9AD2F2F923F}" type="datetimeFigureOut">
              <a:rPr lang="pt-BR" smtClean="0"/>
              <a:t>20/06/2015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48000" y="6356350"/>
            <a:ext cx="33528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34680" y="6355080"/>
            <a:ext cx="582966" cy="274320"/>
          </a:xfrm>
          <a:prstGeom prst="rect">
            <a:avLst/>
          </a:prstGeom>
          <a:ln w="19050">
            <a:noFill/>
          </a:ln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fld id="{3DA596CD-2F16-4D6F-A3B8-940AFE0EC35F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200" kern="1200" cap="all" spc="200" baseline="0">
          <a:ln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sz="2000" kern="1200" spc="150" baseline="0">
          <a:solidFill>
            <a:schemeClr val="tx2"/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buClr>
          <a:schemeClr val="accent2"/>
        </a:buClr>
        <a:buFont typeface="Wingdings" pitchFamily="2" charset="2"/>
        <a:buChar char="§"/>
        <a:defRPr sz="1800" kern="1200" spc="100" baseline="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buClr>
          <a:schemeClr val="accent3"/>
        </a:buClr>
        <a:buFont typeface="Wingdings" pitchFamily="2" charset="2"/>
        <a:buChar char="§"/>
        <a:defRPr sz="1600" kern="1200" spc="100" baseline="0">
          <a:solidFill>
            <a:schemeClr val="tx2"/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buClr>
          <a:schemeClr val="accent4"/>
        </a:buClr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spcBef>
          <a:spcPct val="20000"/>
        </a:spcBef>
        <a:buClr>
          <a:schemeClr val="accent6"/>
        </a:buClr>
        <a:buFont typeface="Wingdings" pitchFamily="2" charset="2"/>
        <a:buChar char="§"/>
        <a:defRPr sz="1300" kern="1200" spc="100" baseline="0">
          <a:solidFill>
            <a:schemeClr val="tx2"/>
          </a:solidFill>
          <a:latin typeface="+mn-lt"/>
          <a:ea typeface="+mn-ea"/>
          <a:cs typeface="+mn-cs"/>
        </a:defRPr>
      </a:lvl5pPr>
      <a:lvl6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defTabSz="914400" rtl="0" eaLnBrk="1" latinLnBrk="0" hangingPunct="1">
        <a:spcBef>
          <a:spcPct val="20000"/>
        </a:spcBef>
        <a:buClr>
          <a:schemeClr val="accent2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5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9512" y="5229200"/>
            <a:ext cx="4572000" cy="1368798"/>
          </a:xfrm>
        </p:spPr>
        <p:txBody>
          <a:bodyPr>
            <a:normAutofit/>
          </a:bodyPr>
          <a:lstStyle/>
          <a:p>
            <a:r>
              <a:rPr lang="pt-BR" dirty="0" smtClean="0"/>
              <a:t>Augusto Miranda – 104627</a:t>
            </a:r>
          </a:p>
          <a:p>
            <a:r>
              <a:rPr lang="pt-BR" dirty="0" smtClean="0"/>
              <a:t>Guilherme Souza - 117093</a:t>
            </a:r>
          </a:p>
          <a:p>
            <a:r>
              <a:rPr lang="pt-BR" smtClean="0"/>
              <a:t>Vinícius David - 120258</a:t>
            </a:r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Projeto 10 - controle de sistema </a:t>
            </a:r>
            <a:r>
              <a:rPr lang="pt-BR" dirty="0" err="1" smtClean="0"/>
              <a:t>torcional</a:t>
            </a:r>
            <a:r>
              <a:rPr lang="pt-BR" dirty="0" smtClean="0"/>
              <a:t> com dois discos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72231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Parte mecânica</a:t>
            </a:r>
          </a:p>
          <a:p>
            <a:r>
              <a:rPr lang="pt-BR" dirty="0" smtClean="0"/>
              <a:t>Parte elétrica</a:t>
            </a:r>
          </a:p>
          <a:p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 smtClean="0"/>
              <a:t>Estudo da Planta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859" y="2852936"/>
            <a:ext cx="5372282" cy="2880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218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Estudo com discos travados</a:t>
            </a:r>
          </a:p>
          <a:p>
            <a:r>
              <a:rPr lang="pt-BR" dirty="0" smtClean="0"/>
              <a:t>R=1</a:t>
            </a:r>
            <a:r>
              <a:rPr lang="el-GR" dirty="0" smtClean="0"/>
              <a:t>Ω</a:t>
            </a:r>
            <a:endParaRPr lang="pt-BR" dirty="0" smtClean="0"/>
          </a:p>
          <a:p>
            <a:r>
              <a:rPr lang="pt-BR" dirty="0" smtClean="0"/>
              <a:t>L=0H</a:t>
            </a:r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 smtClean="0"/>
              <a:t>Parte elétrica</a:t>
            </a:r>
            <a:endParaRPr lang="pt-BR" dirty="0"/>
          </a:p>
        </p:txBody>
      </p:sp>
      <p:pic>
        <p:nvPicPr>
          <p:cNvPr id="1026" name="Picture 2" descr="C:\Users\Vinícius\Desktop\Graduacao\9 semestre\ES828\LabControle\lab10\apresentacao\motor_parad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6400" y="2854800"/>
            <a:ext cx="5371200" cy="270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de cantos arredondados 3"/>
          <p:cNvSpPr/>
          <p:nvPr/>
        </p:nvSpPr>
        <p:spPr>
          <a:xfrm>
            <a:off x="827584" y="5661248"/>
            <a:ext cx="7488832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Cálculo das variáveis elétricas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75232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3 estudos</a:t>
            </a:r>
          </a:p>
          <a:p>
            <a:pPr lvl="1"/>
            <a:r>
              <a:rPr lang="pt-BR" dirty="0" smtClean="0"/>
              <a:t>1- 2 discos rodando livremente</a:t>
            </a:r>
          </a:p>
          <a:p>
            <a:pPr lvl="1"/>
            <a:r>
              <a:rPr lang="pt-BR" dirty="0" smtClean="0"/>
              <a:t>2- disco 1 travado</a:t>
            </a:r>
          </a:p>
          <a:p>
            <a:pPr lvl="1"/>
            <a:r>
              <a:rPr lang="pt-BR" dirty="0" smtClean="0"/>
              <a:t>3- disco 2 travado</a:t>
            </a:r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 smtClean="0"/>
              <a:t>Parte mecânica</a:t>
            </a:r>
            <a:endParaRPr lang="pt-BR" dirty="0"/>
          </a:p>
        </p:txBody>
      </p:sp>
      <p:sp>
        <p:nvSpPr>
          <p:cNvPr id="4" name="Retângulo de cantos arredondados 3"/>
          <p:cNvSpPr/>
          <p:nvPr/>
        </p:nvSpPr>
        <p:spPr>
          <a:xfrm>
            <a:off x="827584" y="5661248"/>
            <a:ext cx="7488832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Calculo das variáveis mecânicas</a:t>
            </a:r>
            <a:endParaRPr lang="pt-BR" dirty="0"/>
          </a:p>
        </p:txBody>
      </p:sp>
      <p:pic>
        <p:nvPicPr>
          <p:cNvPr id="2050" name="Picture 2" descr="C:\Users\Vinícius\Desktop\Graduacao\9 semestre\ES828\LabControle\lab9\html\relatorio_0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00" y="3441170"/>
            <a:ext cx="2808390" cy="2106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:\Users\Vinícius\Desktop\Graduacao\9 semestre\ES828\LabControle\lab9\html\relatorio_0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00" y="3429000"/>
            <a:ext cx="2808390" cy="2106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Vinícius\Desktop\Graduacao\9 semestre\ES828\LabControle\lab9\html\relatorio_05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210" y="3501010"/>
            <a:ext cx="2667000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1656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 smtClean="0"/>
              <a:t>Planta</a:t>
            </a:r>
            <a:endParaRPr lang="pt-BR" dirty="0"/>
          </a:p>
        </p:txBody>
      </p:sp>
      <p:pic>
        <p:nvPicPr>
          <p:cNvPr id="3075" name="Picture 3" descr="C:\Users\Vinícius\Desktop\Graduacao\9 semestre\ES828\LabControle\lab9\html\relatorio_eq7817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564904"/>
            <a:ext cx="8247225" cy="1264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ixaDeTexto 4"/>
              <p:cNvSpPr txBox="1"/>
              <p:nvPr/>
            </p:nvSpPr>
            <p:spPr>
              <a:xfrm>
                <a:off x="467545" y="4221088"/>
                <a:ext cx="8247224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/>
                            </a:rPr>
                            <m:t>b</m:t>
                          </m:r>
                        </m:e>
                        <m:sub>
                          <m:r>
                            <a:rPr lang="pt-BR" b="0" i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b="0" i="0" smtClean="0">
                          <a:latin typeface="Cambria Math"/>
                        </a:rPr>
                        <m:t>=</m:t>
                      </m:r>
                      <m:r>
                        <a:rPr lang="pt-BR" b="0" i="0" smtClean="0">
                          <a:latin typeface="Cambria Math"/>
                        </a:rPr>
                        <m:t>1</m:t>
                      </m:r>
                      <m:r>
                        <a:rPr lang="pt-BR" b="0" i="0" smtClean="0">
                          <a:latin typeface="Cambria Math"/>
                        </a:rPr>
                        <m:t>,</m:t>
                      </m:r>
                      <m:r>
                        <a:rPr lang="pt-BR" b="0" i="0" smtClean="0">
                          <a:latin typeface="Cambria Math"/>
                        </a:rPr>
                        <m:t>0651</m:t>
                      </m:r>
                      <m:r>
                        <a:rPr lang="pt-BR" b="0" i="0" smtClean="0">
                          <a:latin typeface="Cambria Math"/>
                        </a:rPr>
                        <m:t>∗</m:t>
                      </m:r>
                      <m:sSup>
                        <m:sSupPr>
                          <m:ctrlPr>
                            <a:rPr lang="pt-BR" b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pt-BR" b="0" i="0" smtClean="0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pt-BR" b="0" i="0" smtClean="0">
                              <a:latin typeface="Cambria Math"/>
                            </a:rPr>
                            <m:t>−</m:t>
                          </m:r>
                          <m:r>
                            <a:rPr lang="pt-BR" b="0" i="0" smtClean="0">
                              <a:latin typeface="Cambria Math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pt-BR" b="0" dirty="0" smtClean="0"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/>
                            </a:rPr>
                            <m:t>b</m:t>
                          </m:r>
                        </m:e>
                        <m:sub>
                          <m:r>
                            <a:rPr lang="pt-BR" b="0" i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pt-BR" b="0" i="0" smtClean="0">
                          <a:latin typeface="Cambria Math"/>
                        </a:rPr>
                        <m:t>=</m:t>
                      </m:r>
                      <m:r>
                        <a:rPr lang="pt-BR" b="0" i="0" smtClean="0">
                          <a:latin typeface="Cambria Math"/>
                        </a:rPr>
                        <m:t>5</m:t>
                      </m:r>
                      <m:r>
                        <a:rPr lang="pt-BR" b="0" i="0" smtClean="0">
                          <a:latin typeface="Cambria Math"/>
                        </a:rPr>
                        <m:t>,</m:t>
                      </m:r>
                      <m:r>
                        <a:rPr lang="pt-BR" b="0" i="0" smtClean="0">
                          <a:latin typeface="Cambria Math"/>
                        </a:rPr>
                        <m:t>1545</m:t>
                      </m:r>
                      <m:r>
                        <a:rPr lang="pt-BR" b="0" i="0" smtClean="0">
                          <a:latin typeface="Cambria Math"/>
                        </a:rPr>
                        <m:t>∗</m:t>
                      </m:r>
                      <m:sSup>
                        <m:sSupPr>
                          <m:ctrlPr>
                            <a:rPr lang="pt-BR" b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pt-BR" b="0" i="0" smtClean="0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pt-BR" b="0" i="0" smtClean="0">
                              <a:latin typeface="Cambria Math"/>
                            </a:rPr>
                            <m:t>−</m:t>
                          </m:r>
                          <m:r>
                            <a:rPr lang="pt-BR" b="0" i="0" smtClean="0">
                              <a:latin typeface="Cambria Math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pt-BR" b="0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𝑘</m:t>
                      </m:r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r>
                        <a:rPr lang="pt-BR" b="0" i="1" smtClean="0">
                          <a:latin typeface="Cambria Math"/>
                        </a:rPr>
                        <m:t>0</m:t>
                      </m:r>
                      <m:r>
                        <a:rPr lang="pt-BR" b="0" i="1" smtClean="0">
                          <a:latin typeface="Cambria Math"/>
                        </a:rPr>
                        <m:t>,</m:t>
                      </m:r>
                      <m:r>
                        <a:rPr lang="pt-BR" b="0" i="1" smtClean="0">
                          <a:latin typeface="Cambria Math"/>
                        </a:rPr>
                        <m:t>1989</m:t>
                      </m:r>
                    </m:oMath>
                  </m:oMathPara>
                </a14:m>
                <a:endParaRPr lang="pt-BR" b="0" i="1" dirty="0" smtClean="0"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/>
                            </a:rPr>
                            <m:t>J</m:t>
                          </m:r>
                        </m:e>
                        <m:sub>
                          <m:r>
                            <a:rPr lang="pt-BR" b="0" i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b="0" i="0" smtClean="0">
                          <a:latin typeface="Cambria Math"/>
                        </a:rPr>
                        <m:t>=</m:t>
                      </m:r>
                      <m:r>
                        <a:rPr lang="pt-BR" b="0" i="0" smtClean="0">
                          <a:latin typeface="Cambria Math"/>
                        </a:rPr>
                        <m:t>4</m:t>
                      </m:r>
                      <m:r>
                        <a:rPr lang="pt-BR" b="0" i="0" smtClean="0">
                          <a:latin typeface="Cambria Math"/>
                        </a:rPr>
                        <m:t>,</m:t>
                      </m:r>
                      <m:r>
                        <a:rPr lang="pt-BR" b="0" i="0" smtClean="0">
                          <a:latin typeface="Cambria Math"/>
                        </a:rPr>
                        <m:t>8176</m:t>
                      </m:r>
                      <m:r>
                        <a:rPr lang="pt-BR" b="0" i="0" smtClean="0">
                          <a:latin typeface="Cambria Math"/>
                        </a:rPr>
                        <m:t>∗</m:t>
                      </m:r>
                      <m:sSup>
                        <m:sSupPr>
                          <m:ctrlPr>
                            <a:rPr lang="pt-BR" b="0" i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pt-BR" b="0" i="0" smtClean="0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pt-BR" b="0" i="0" smtClean="0">
                              <a:latin typeface="Cambria Math"/>
                            </a:rPr>
                            <m:t>−</m:t>
                          </m:r>
                          <m:r>
                            <a:rPr lang="pt-BR" b="0" i="0" smtClean="0">
                              <a:latin typeface="Cambria Math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pt-BR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/>
                            </a:rPr>
                            <m:t>J</m:t>
                          </m:r>
                        </m:e>
                        <m:sub>
                          <m:r>
                            <a:rPr lang="pt-BR" b="0" i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pt-BR" b="0" i="0" smtClean="0">
                          <a:latin typeface="Cambria Math"/>
                        </a:rPr>
                        <m:t>=</m:t>
                      </m:r>
                      <m:r>
                        <a:rPr lang="pt-BR" b="0" i="0" smtClean="0">
                          <a:latin typeface="Cambria Math"/>
                        </a:rPr>
                        <m:t>5</m:t>
                      </m:r>
                      <m:r>
                        <a:rPr lang="pt-BR" b="0" i="0" smtClean="0">
                          <a:latin typeface="Cambria Math"/>
                        </a:rPr>
                        <m:t>,</m:t>
                      </m:r>
                      <m:r>
                        <a:rPr lang="pt-BR" b="0" i="0" smtClean="0">
                          <a:latin typeface="Cambria Math"/>
                        </a:rPr>
                        <m:t>1345</m:t>
                      </m:r>
                      <m:r>
                        <a:rPr lang="pt-BR" b="0" i="0" smtClean="0">
                          <a:latin typeface="Cambria Math"/>
                        </a:rPr>
                        <m:t>∗</m:t>
                      </m:r>
                      <m:sSup>
                        <m:sSupPr>
                          <m:ctrlPr>
                            <a:rPr lang="pt-BR" b="0" i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pt-BR" b="0" i="0" smtClean="0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pt-BR" b="0" i="0" smtClean="0">
                              <a:latin typeface="Cambria Math"/>
                            </a:rPr>
                            <m:t>−</m:t>
                          </m:r>
                          <m:r>
                            <a:rPr lang="pt-BR" b="0" i="0" smtClean="0">
                              <a:latin typeface="Cambria Math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pt-BR" b="0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𝑅</m:t>
                      </m:r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r>
                        <a:rPr lang="pt-BR" b="0" i="1" smtClean="0">
                          <a:latin typeface="Cambria Math"/>
                        </a:rPr>
                        <m:t>4</m:t>
                      </m:r>
                      <m:r>
                        <a:rPr lang="pt-BR" b="0" i="1" smtClean="0">
                          <a:latin typeface="Cambria Math"/>
                        </a:rPr>
                        <m:t>,</m:t>
                      </m:r>
                      <m:r>
                        <a:rPr lang="pt-BR" b="0" i="1" smtClean="0">
                          <a:latin typeface="Cambria Math"/>
                        </a:rPr>
                        <m:t>4581</m:t>
                      </m:r>
                    </m:oMath>
                  </m:oMathPara>
                </a14:m>
                <a:endParaRPr lang="pt-BR" dirty="0"/>
              </a:p>
              <a:p>
                <a:pPr algn="ctr"/>
                <a:endParaRPr lang="pt-BR" dirty="0"/>
              </a:p>
              <a:p>
                <a:pPr algn="ctr"/>
                <a:endParaRPr lang="pt-BR" dirty="0"/>
              </a:p>
            </p:txBody>
          </p:sp>
        </mc:Choice>
        <mc:Fallback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5" y="4221088"/>
                <a:ext cx="8247224" cy="2308324"/>
              </a:xfrm>
              <a:prstGeom prst="rect">
                <a:avLst/>
              </a:prstGeom>
              <a:blipFill rotWithShape="1">
                <a:blip r:embed="rId3"/>
                <a:stretch>
                  <a:fillRect t="-1583" b="-316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6849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Valores substituídos:</a:t>
            </a:r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 smtClean="0"/>
              <a:t>Planta</a:t>
            </a:r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Espaço Reservado para Conteúdo 1"/>
              <p:cNvSpPr txBox="1">
                <a:spLocks/>
              </p:cNvSpPr>
              <p:nvPr/>
            </p:nvSpPr>
            <p:spPr>
              <a:xfrm>
                <a:off x="533399" y="1871471"/>
                <a:ext cx="8407893" cy="440740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74320" indent="-22860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Wingdings 2" pitchFamily="18" charset="2"/>
                  <a:buChar char=""/>
                  <a:defRPr sz="2000" kern="1200" spc="15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182880" algn="l" defTabSz="9144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§"/>
                  <a:defRPr sz="1800" kern="1200" spc="1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182880" algn="l" defTabSz="914400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Wingdings" pitchFamily="2" charset="2"/>
                  <a:buChar char="§"/>
                  <a:defRPr sz="1600" kern="1200" spc="1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182880" algn="l" defTabSz="914400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Wingdings" pitchFamily="2" charset="2"/>
                  <a:buChar char="§"/>
                  <a:defRPr sz="1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spcBef>
                    <a:spcPct val="20000"/>
                  </a:spcBef>
                  <a:buClr>
                    <a:schemeClr val="accent6"/>
                  </a:buClr>
                  <a:buFont typeface="Wingdings" pitchFamily="2" charset="2"/>
                  <a:buChar char="§"/>
                  <a:defRPr sz="1300" kern="1200" spc="1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155448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Wingdings" pitchFamily="2" charset="2"/>
                  <a:buChar char="§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defTabSz="9144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§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2103120" indent="-182880" algn="l" defTabSz="914400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Wingdings" pitchFamily="2" charset="2"/>
                  <a:buChar char="§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2377440" indent="-182880" algn="l" defTabSz="914400" rtl="0" eaLnBrk="1" latinLnBrk="0" hangingPunct="1">
                  <a:spcBef>
                    <a:spcPct val="20000"/>
                  </a:spcBef>
                  <a:buClr>
                    <a:schemeClr val="accent5"/>
                  </a:buClr>
                  <a:buFont typeface="Wingdings" pitchFamily="2" charset="2"/>
                  <a:buChar char="§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" indent="0">
                  <a:buFont typeface="Wingdings 2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pt-BR" i="1" smtClean="0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pt-BR" i="1" smtClean="0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i="1" smtClean="0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i="1" smtClean="0">
                                            <a:latin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pt-BR" i="1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pt-BR" i="1" smtClean="0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i="1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i="1" smtClean="0">
                                            <a:latin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pt-BR" i="1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pt-BR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i="1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i="1" smtClean="0">
                                            <a:latin typeface="Cambria Math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pt-BR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i="1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pt-BR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i="1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pt-BR" i="1" smtClean="0">
                                    <a:latin typeface="Cambria Math"/>
                                  </a:rPr>
                                  <m:t>412</m:t>
                                </m:r>
                                <m:r>
                                  <a:rPr lang="pt-BR" i="1" smtClean="0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pt-BR" i="1" smtClean="0">
                                    <a:latin typeface="Cambria Math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pt-BR" i="1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pt-BR" i="1" smtClean="0"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pt-BR" i="1" smtClean="0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pt-BR" i="1" smtClean="0">
                                    <a:latin typeface="Cambria Math"/>
                                  </a:rPr>
                                  <m:t>875</m:t>
                                </m:r>
                              </m:e>
                              <m:e>
                                <m:r>
                                  <a:rPr lang="pt-BR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i="1" smtClean="0">
                                    <a:latin typeface="Cambria Math"/>
                                  </a:rPr>
                                  <m:t>387</m:t>
                                </m:r>
                                <m:r>
                                  <a:rPr lang="pt-BR" i="1" smtClean="0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pt-BR" i="1" smtClean="0"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pt-BR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i="1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pt-BR" i="1" smtClean="0">
                                    <a:latin typeface="Cambria Math"/>
                                  </a:rPr>
                                  <m:t>1</m:t>
                                </m:r>
                                <m:r>
                                  <a:rPr lang="pt-BR" i="1" smtClean="0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pt-BR" i="1" smtClean="0">
                                    <a:latin typeface="Cambria Math"/>
                                  </a:rPr>
                                  <m:t>004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t-BR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i="1" smtClean="0">
                                        <a:latin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pt-BR" i="1" smtClean="0">
                          <a:latin typeface="Cambria Math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i="1" smtClean="0">
                                    <a:latin typeface="Cambria Math"/>
                                  </a:rPr>
                                  <m:t>35</m:t>
                                </m:r>
                                <m:r>
                                  <a:rPr lang="pt-BR" i="1" smtClean="0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pt-BR" i="1" smtClean="0">
                                    <a:latin typeface="Cambria Math"/>
                                  </a:rPr>
                                  <m:t>15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i="1" smtClean="0">
                          <a:latin typeface="Cambria Math"/>
                        </a:rPr>
                        <m:t>∗</m:t>
                      </m:r>
                      <m:r>
                        <a:rPr lang="pt-BR" i="1" smtClean="0">
                          <a:latin typeface="Cambria Math"/>
                        </a:rPr>
                        <m:t>𝑉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4" name="Espaço Reservado para Conteúdo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99" y="1871471"/>
                <a:ext cx="8407893" cy="440740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5541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 smtClean="0"/>
              <a:t>Comparação</a:t>
            </a:r>
            <a:endParaRPr lang="pt-BR" dirty="0"/>
          </a:p>
        </p:txBody>
      </p:sp>
      <p:pic>
        <p:nvPicPr>
          <p:cNvPr id="4098" name="Picture 2" descr="C:\Users\Vinícius\Desktop\Graduacao\9 semestre\ES828\LabControle\lab9\html\relatorio_0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700760"/>
            <a:ext cx="5334000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de cantos arredondados 4"/>
          <p:cNvSpPr/>
          <p:nvPr/>
        </p:nvSpPr>
        <p:spPr>
          <a:xfrm>
            <a:off x="827584" y="5661248"/>
            <a:ext cx="7488832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Planta teórica muito diferente!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9926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Controle PI pelo </a:t>
            </a:r>
            <a:r>
              <a:rPr lang="pt-BR" dirty="0" err="1" smtClean="0"/>
              <a:t>Sisotool</a:t>
            </a:r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Controle Planta teórica</a:t>
            </a:r>
          </a:p>
        </p:txBody>
      </p:sp>
      <p:pic>
        <p:nvPicPr>
          <p:cNvPr id="5122" name="Picture 2" descr="C:\Users\Vinícius\Desktop\Graduacao\9 semestre\ES828\LabControle\lab10\controlador_sisotool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214909"/>
            <a:ext cx="3626551" cy="349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C:\Users\Vinícius\Desktop\Graduacao\9 semestre\ES828\LabControle\lab10\saidas_sisotool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7189" y="2214909"/>
            <a:ext cx="3609227" cy="349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3714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Resultado prático</a:t>
            </a:r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 smtClean="0"/>
              <a:t>Controle Planta </a:t>
            </a:r>
            <a:r>
              <a:rPr lang="pt-BR" dirty="0"/>
              <a:t>t</a:t>
            </a:r>
            <a:r>
              <a:rPr lang="pt-BR" dirty="0" smtClean="0"/>
              <a:t>eórica</a:t>
            </a:r>
            <a:endParaRPr lang="pt-BR" dirty="0"/>
          </a:p>
        </p:txBody>
      </p:sp>
      <p:pic>
        <p:nvPicPr>
          <p:cNvPr id="5" name="Picture 3" descr="C:\Users\Vinícius\Desktop\Graduacao\9 semestre\ES828\LabControle\lab10\html\velocidades_0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788" y="2214909"/>
            <a:ext cx="4012110" cy="349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C:\Users\Vinícius\Desktop\Graduacao\9 semestre\ES828\LabControle\lab10\html\velocidades_0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2898" y="2214908"/>
            <a:ext cx="4014000" cy="3446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tângulo de cantos arredondados 6"/>
          <p:cNvSpPr/>
          <p:nvPr/>
        </p:nvSpPr>
        <p:spPr>
          <a:xfrm>
            <a:off x="827584" y="5661248"/>
            <a:ext cx="7488832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Controle na planta teórica não condizente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45893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 smtClean="0"/>
              <a:t>Controle proporcional</a:t>
            </a:r>
            <a:endParaRPr lang="pt-BR" dirty="0"/>
          </a:p>
        </p:txBody>
      </p:sp>
      <p:sp>
        <p:nvSpPr>
          <p:cNvPr id="8" name="Retângulo de cantos arredondados 7"/>
          <p:cNvSpPr/>
          <p:nvPr/>
        </p:nvSpPr>
        <p:spPr>
          <a:xfrm>
            <a:off x="827584" y="5661248"/>
            <a:ext cx="7488832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Não segue o degrau</a:t>
            </a:r>
            <a:endParaRPr lang="pt-BR" dirty="0"/>
          </a:p>
        </p:txBody>
      </p:sp>
      <p:pic>
        <p:nvPicPr>
          <p:cNvPr id="6153" name="Picture 9" descr="C:\Users\Vinícius\Desktop\Graduacao\9 semestre\ES828\LabControle\lab10\html\velocidades_0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10" y="1988800"/>
            <a:ext cx="4297624" cy="3223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C:\Users\Vinícius\Desktop\Graduacao\9 semestre\ES828\LabControle\lab10\html\velocidades_0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7" y="1988800"/>
            <a:ext cx="4320533" cy="324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6974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 smtClean="0"/>
              <a:t>Controlador PI</a:t>
            </a:r>
            <a:endParaRPr lang="pt-BR" dirty="0"/>
          </a:p>
        </p:txBody>
      </p:sp>
      <p:pic>
        <p:nvPicPr>
          <p:cNvPr id="7172" name="Picture 4" descr="C:\Users\Vinícius\Desktop\Graduacao\9 semestre\ES828\LabControle\lab10\html\velocidades_0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700808"/>
            <a:ext cx="5334000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tângulo de cantos arredondados 7"/>
          <p:cNvSpPr/>
          <p:nvPr/>
        </p:nvSpPr>
        <p:spPr>
          <a:xfrm>
            <a:off x="827584" y="5661248"/>
            <a:ext cx="7488832" cy="9361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Parâmetros do verde cumprem os requisitos:</a:t>
            </a:r>
          </a:p>
          <a:p>
            <a:pPr algn="ctr"/>
            <a:r>
              <a:rPr lang="pt-BR" dirty="0" smtClean="0"/>
              <a:t>Tempo de estabilização – 5,3s</a:t>
            </a:r>
          </a:p>
          <a:p>
            <a:pPr algn="ctr"/>
            <a:r>
              <a:rPr lang="pt-BR" dirty="0" smtClean="0"/>
              <a:t>Sobressinal – 5,4%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96977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Controlador PI</a:t>
            </a:r>
          </a:p>
        </p:txBody>
      </p:sp>
      <p:pic>
        <p:nvPicPr>
          <p:cNvPr id="4" name="Picture 5" descr="C:\Users\Vinícius\Desktop\Graduacao\9 semestre\ES828\LabControle\lab10\html\velocidades_0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700808"/>
            <a:ext cx="5334000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de cantos arredondados 4"/>
          <p:cNvSpPr/>
          <p:nvPr/>
        </p:nvSpPr>
        <p:spPr>
          <a:xfrm>
            <a:off x="827584" y="5661248"/>
            <a:ext cx="7488832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Sinal de controle satura até 6s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37626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de cantos arredondados 3"/>
          <p:cNvSpPr/>
          <p:nvPr/>
        </p:nvSpPr>
        <p:spPr>
          <a:xfrm>
            <a:off x="827584" y="3068970"/>
            <a:ext cx="7488832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Perguntas?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82080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Grade">
  <a:themeElements>
    <a:clrScheme name="Personalizada 2">
      <a:dk1>
        <a:sysClr val="windowText" lastClr="000000"/>
      </a:dk1>
      <a:lt1>
        <a:sysClr val="window" lastClr="FFFFFF"/>
      </a:lt1>
      <a:dk2>
        <a:srgbClr val="534949"/>
      </a:dk2>
      <a:lt2>
        <a:srgbClr val="FFFFFF"/>
      </a:lt2>
      <a:accent1>
        <a:srgbClr val="A5A5A5"/>
      </a:accent1>
      <a:accent2>
        <a:srgbClr val="BF974D"/>
      </a:accent2>
      <a:accent3>
        <a:srgbClr val="928B70"/>
      </a:accent3>
      <a:accent4>
        <a:srgbClr val="87706B"/>
      </a:accent4>
      <a:accent5>
        <a:srgbClr val="94734E"/>
      </a:accent5>
      <a:accent6>
        <a:srgbClr val="6F777D"/>
      </a:accent6>
      <a:hlink>
        <a:srgbClr val="CC9900"/>
      </a:hlink>
      <a:folHlink>
        <a:srgbClr val="C0C0C0"/>
      </a:folHlink>
    </a:clrScheme>
    <a:fontScheme name="Grade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inorFont>
    </a:fontScheme>
    <a:fmtScheme name="Grade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175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3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3000"/>
                <a:satMod val="11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Grid</Template>
  <TotalTime>83</TotalTime>
  <Words>240</Words>
  <Application>Microsoft Office PowerPoint</Application>
  <PresentationFormat>Apresentação na tela (4:3)</PresentationFormat>
  <Paragraphs>45</Paragraphs>
  <Slides>13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4" baseType="lpstr">
      <vt:lpstr>Grade</vt:lpstr>
      <vt:lpstr>Projeto 10 - controle de sistema torcional com dois discos</vt:lpstr>
      <vt:lpstr>Estudo da Planta</vt:lpstr>
      <vt:lpstr>Parte elétrica</vt:lpstr>
      <vt:lpstr>Parte mecânica</vt:lpstr>
      <vt:lpstr>Planta</vt:lpstr>
      <vt:lpstr>Planta</vt:lpstr>
      <vt:lpstr>Comparação</vt:lpstr>
      <vt:lpstr>Controle Planta teórica</vt:lpstr>
      <vt:lpstr>Controle Planta teórica</vt:lpstr>
      <vt:lpstr>Controle proporcional</vt:lpstr>
      <vt:lpstr>Controlador PI</vt:lpstr>
      <vt:lpstr>Controlador PI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10- controle de sistema torcional com dois discos</dc:title>
  <dc:creator>Vinícius</dc:creator>
  <cp:lastModifiedBy>Vinícius</cp:lastModifiedBy>
  <cp:revision>15</cp:revision>
  <dcterms:created xsi:type="dcterms:W3CDTF">2015-06-20T20:55:20Z</dcterms:created>
  <dcterms:modified xsi:type="dcterms:W3CDTF">2015-06-20T22:18:39Z</dcterms:modified>
</cp:coreProperties>
</file>