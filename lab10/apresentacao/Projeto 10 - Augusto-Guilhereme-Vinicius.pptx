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notesMasterIdLst>
    <p:notesMasterId r:id="rId17"/>
  </p:notesMasterIdLst>
  <p:sldIdLst>
    <p:sldId id="256" r:id="rId2"/>
    <p:sldId id="258" r:id="rId3"/>
    <p:sldId id="271" r:id="rId4"/>
    <p:sldId id="259" r:id="rId5"/>
    <p:sldId id="257" r:id="rId6"/>
    <p:sldId id="260" r:id="rId7"/>
    <p:sldId id="270" r:id="rId8"/>
    <p:sldId id="261" r:id="rId9"/>
    <p:sldId id="262" r:id="rId10"/>
    <p:sldId id="272" r:id="rId11"/>
    <p:sldId id="263" r:id="rId12"/>
    <p:sldId id="264" r:id="rId13"/>
    <p:sldId id="265" r:id="rId14"/>
    <p:sldId id="266" r:id="rId15"/>
    <p:sldId id="268" r:id="rId16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4" d="100"/>
          <a:sy n="74" d="100"/>
        </p:scale>
        <p:origin x="-1254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6A0F26-9B60-4B38-AC42-ED18EBBC8C57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B7A82-F351-430A-9421-B35340673FD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75534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2B7A82-F351-430A-9421-B35340673FD6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0460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2B7A82-F351-430A-9421-B35340673FD6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0460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010400" y="152399"/>
            <a:ext cx="1981200" cy="6556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400" y="153923"/>
            <a:ext cx="6705600" cy="65532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10400" y="2052960"/>
            <a:ext cx="1981200" cy="1828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pt-BR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57200" y="2052960"/>
            <a:ext cx="6324600" cy="1828800"/>
          </a:xfrm>
        </p:spPr>
        <p:txBody>
          <a:bodyPr/>
          <a:lstStyle>
            <a:lvl1pPr algn="r">
              <a:defRPr sz="4200" spc="150" baseline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010400" y="152399"/>
            <a:ext cx="1981200" cy="65562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400" y="153923"/>
            <a:ext cx="6705600" cy="6553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62799" y="2892277"/>
            <a:ext cx="1600201" cy="1645920"/>
          </a:xfrm>
        </p:spPr>
        <p:txBody>
          <a:bodyPr anchor="ctr"/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pt-BR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381000" y="2892277"/>
            <a:ext cx="6324600" cy="1645920"/>
          </a:xfrm>
        </p:spPr>
        <p:txBody>
          <a:bodyPr/>
          <a:lstStyle>
            <a:lvl1pPr algn="r">
              <a:defRPr sz="4200" spc="150" baseline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19072"/>
            <a:ext cx="4038600" cy="44074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072"/>
            <a:ext cx="4038600" cy="44074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22438"/>
            <a:ext cx="4040188" cy="639762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399"/>
            <a:ext cx="4040188" cy="3687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22438"/>
            <a:ext cx="4041775" cy="639762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38399"/>
            <a:ext cx="4041775" cy="3687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" y="150919"/>
            <a:ext cx="8831802" cy="65562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010400" y="150876"/>
            <a:ext cx="1981200" cy="6556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/>
          <p:cNvSpPr/>
          <p:nvPr/>
        </p:nvSpPr>
        <p:spPr>
          <a:xfrm>
            <a:off x="152400" y="152400"/>
            <a:ext cx="6705600" cy="6553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304800"/>
            <a:ext cx="58674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59752" y="2130552"/>
            <a:ext cx="1673352" cy="2816352"/>
          </a:xfrm>
        </p:spPr>
        <p:txBody>
          <a:bodyPr tIns="0"/>
          <a:lstStyle>
            <a:lvl1pPr marL="0" indent="0"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noFill/>
          </a:ln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7159752" y="457200"/>
            <a:ext cx="1675660" cy="1673352"/>
          </a:xfrm>
        </p:spPr>
        <p:txBody>
          <a:bodyPr anchor="b"/>
          <a:lstStyle>
            <a:lvl1pPr algn="l">
              <a:defRPr sz="2000" spc="150" baseline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/>
          <p:cNvSpPr/>
          <p:nvPr/>
        </p:nvSpPr>
        <p:spPr>
          <a:xfrm>
            <a:off x="7010400" y="150876"/>
            <a:ext cx="1981200" cy="65562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52400" y="152400"/>
            <a:ext cx="6705600" cy="6553200"/>
          </a:xfrm>
        </p:spPr>
        <p:txBody>
          <a:bodyPr anchor="ctr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62800" y="2133600"/>
            <a:ext cx="1676400" cy="2971800"/>
          </a:xfrm>
        </p:spPr>
        <p:txBody>
          <a:bodyPr tIns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162800" y="460248"/>
            <a:ext cx="1676400" cy="1673352"/>
          </a:xfrm>
        </p:spPr>
        <p:txBody>
          <a:bodyPr anchor="b"/>
          <a:lstStyle>
            <a:lvl1pPr algn="l">
              <a:defRPr sz="2000" spc="150" baseline="0">
                <a:solidFill>
                  <a:schemeClr val="tx2"/>
                </a:solidFill>
              </a:defRPr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52400" y="147319"/>
            <a:ext cx="6705600" cy="65562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010400" y="147319"/>
            <a:ext cx="1956046" cy="65562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62800" y="274638"/>
            <a:ext cx="1676400" cy="5851525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2400" y="1634971"/>
            <a:ext cx="8831802" cy="50454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399" y="152400"/>
            <a:ext cx="8814047" cy="13464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55847"/>
            <a:ext cx="8381260" cy="10543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99" y="1719071"/>
            <a:ext cx="8407893" cy="4407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0888" y="6356350"/>
            <a:ext cx="2133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fld id="{DCEE50A4-59EC-442D-9CC5-E9AD2F2F923F}" type="datetimeFigureOut">
              <a:rPr lang="pt-BR" smtClean="0"/>
              <a:t>21/06/2015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48000" y="6356350"/>
            <a:ext cx="33528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34680" y="6355080"/>
            <a:ext cx="582966" cy="274320"/>
          </a:xfrm>
          <a:prstGeom prst="rect">
            <a:avLst/>
          </a:prstGeom>
          <a:ln w="19050">
            <a:noFill/>
          </a:ln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3200" kern="1200" cap="all" spc="200" baseline="0">
          <a:ln>
            <a:noFill/>
          </a:ln>
          <a:solidFill>
            <a:schemeClr val="bg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spcBef>
          <a:spcPct val="20000"/>
        </a:spcBef>
        <a:buClr>
          <a:schemeClr val="accent1"/>
        </a:buClr>
        <a:buFont typeface="Wingdings 2" pitchFamily="18" charset="2"/>
        <a:buChar char=""/>
        <a:defRPr sz="2000" kern="1200" spc="150" baseline="0">
          <a:solidFill>
            <a:schemeClr val="tx2"/>
          </a:solidFill>
          <a:latin typeface="+mn-lt"/>
          <a:ea typeface="+mn-ea"/>
          <a:cs typeface="+mn-cs"/>
        </a:defRPr>
      </a:lvl1pPr>
      <a:lvl2pPr marL="548640" indent="-182880" algn="l" defTabSz="914400" rtl="0" eaLnBrk="1" latinLnBrk="0" hangingPunct="1">
        <a:spcBef>
          <a:spcPct val="20000"/>
        </a:spcBef>
        <a:buClr>
          <a:schemeClr val="accent2"/>
        </a:buClr>
        <a:buFont typeface="Wingdings" pitchFamily="2" charset="2"/>
        <a:buChar char="§"/>
        <a:defRPr sz="1800" kern="1200" spc="100" baseline="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182880" algn="l" defTabSz="914400" rtl="0" eaLnBrk="1" latinLnBrk="0" hangingPunct="1">
        <a:spcBef>
          <a:spcPct val="20000"/>
        </a:spcBef>
        <a:buClr>
          <a:schemeClr val="accent3"/>
        </a:buClr>
        <a:buFont typeface="Wingdings" pitchFamily="2" charset="2"/>
        <a:buChar char="§"/>
        <a:defRPr sz="1600" kern="1200" spc="100" baseline="0">
          <a:solidFill>
            <a:schemeClr val="tx2"/>
          </a:solidFill>
          <a:latin typeface="+mn-lt"/>
          <a:ea typeface="+mn-ea"/>
          <a:cs typeface="+mn-cs"/>
        </a:defRPr>
      </a:lvl3pPr>
      <a:lvl4pPr marL="1097280" indent="-182880" algn="l" defTabSz="914400" rtl="0" eaLnBrk="1" latinLnBrk="0" hangingPunct="1">
        <a:spcBef>
          <a:spcPct val="20000"/>
        </a:spcBef>
        <a:buClr>
          <a:schemeClr val="accent4"/>
        </a:buClr>
        <a:buFont typeface="Wingdings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spcBef>
          <a:spcPct val="20000"/>
        </a:spcBef>
        <a:buClr>
          <a:schemeClr val="accent6"/>
        </a:buClr>
        <a:buFont typeface="Wingdings" pitchFamily="2" charset="2"/>
        <a:buChar char="§"/>
        <a:defRPr sz="1300" kern="1200" spc="100" baseline="0">
          <a:solidFill>
            <a:schemeClr val="tx2"/>
          </a:solidFill>
          <a:latin typeface="+mn-lt"/>
          <a:ea typeface="+mn-ea"/>
          <a:cs typeface="+mn-cs"/>
        </a:defRPr>
      </a:lvl5pPr>
      <a:lvl6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1828800" indent="-182880" algn="l" defTabSz="914400" rtl="0" eaLnBrk="1" latinLnBrk="0" hangingPunct="1">
        <a:spcBef>
          <a:spcPct val="20000"/>
        </a:spcBef>
        <a:buClr>
          <a:schemeClr val="accent2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377440" indent="-182880" algn="l" defTabSz="914400" rtl="0" eaLnBrk="1" latinLnBrk="0" hangingPunct="1">
        <a:spcBef>
          <a:spcPct val="20000"/>
        </a:spcBef>
        <a:buClr>
          <a:schemeClr val="accent5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79512" y="5229200"/>
            <a:ext cx="4572000" cy="1368798"/>
          </a:xfrm>
        </p:spPr>
        <p:txBody>
          <a:bodyPr>
            <a:normAutofit/>
          </a:bodyPr>
          <a:lstStyle/>
          <a:p>
            <a:r>
              <a:rPr lang="pt-BR" dirty="0" smtClean="0"/>
              <a:t>Augusto Miranda – 104627</a:t>
            </a:r>
          </a:p>
          <a:p>
            <a:r>
              <a:rPr lang="pt-BR" dirty="0" smtClean="0"/>
              <a:t>Guilherme Souza - 117093</a:t>
            </a:r>
          </a:p>
          <a:p>
            <a:r>
              <a:rPr lang="pt-BR" smtClean="0"/>
              <a:t>Vinícius David - 120258</a:t>
            </a:r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 smtClean="0"/>
              <a:t>Projeto 10 - controle de sistema </a:t>
            </a:r>
            <a:r>
              <a:rPr lang="pt-BR" dirty="0" err="1" smtClean="0"/>
              <a:t>torcional</a:t>
            </a:r>
            <a:r>
              <a:rPr lang="pt-BR" dirty="0" smtClean="0"/>
              <a:t> com dois discos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231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Parte mecânica</a:t>
            </a:r>
          </a:p>
          <a:p>
            <a:r>
              <a:rPr lang="pt-BR" dirty="0" smtClean="0"/>
              <a:t>Parte elétrica</a:t>
            </a:r>
          </a:p>
          <a:p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Estudo da Planta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01" y="2708900"/>
            <a:ext cx="4248590" cy="2277860"/>
          </a:xfrm>
          <a:prstGeom prst="rect">
            <a:avLst/>
          </a:prstGeom>
        </p:spPr>
      </p:pic>
      <p:pic>
        <p:nvPicPr>
          <p:cNvPr id="1026" name="Picture 2" descr="C:\Users\Vinícius\Desktop\Graduacao\9 semestre\ES828\LabControle\lab10\IMG_0003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5076070" y="2708900"/>
            <a:ext cx="3832803" cy="2874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1218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err="1" smtClean="0"/>
              <a:t>Labview</a:t>
            </a:r>
            <a:endParaRPr lang="pt-BR" dirty="0"/>
          </a:p>
        </p:txBody>
      </p:sp>
      <p:pic>
        <p:nvPicPr>
          <p:cNvPr id="2050" name="Picture 2" descr="C:\Users\Vinícius\Desktop\Graduacao\9 semestre\ES828\LabControle\lab10\IMG_000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4716020" y="2493370"/>
            <a:ext cx="4127907" cy="3095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Vinícius\Desktop\Graduacao\9 semestre\ES828\LabControle\lab10\vi.bmp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" t="6672" r="32127" b="7931"/>
          <a:stretch/>
        </p:blipFill>
        <p:spPr bwMode="auto">
          <a:xfrm>
            <a:off x="251400" y="2482576"/>
            <a:ext cx="4392610" cy="3137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1793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Estudo com discos travados</a:t>
            </a:r>
          </a:p>
          <a:p>
            <a:r>
              <a:rPr lang="pt-BR" dirty="0" smtClean="0"/>
              <a:t>R=1</a:t>
            </a:r>
            <a:r>
              <a:rPr lang="el-GR" dirty="0" smtClean="0"/>
              <a:t>Ω</a:t>
            </a:r>
            <a:endParaRPr lang="pt-BR" dirty="0" smtClean="0"/>
          </a:p>
          <a:p>
            <a:r>
              <a:rPr lang="pt-BR" dirty="0" smtClean="0"/>
              <a:t>L=0H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Parte elétrica</a:t>
            </a:r>
            <a:endParaRPr lang="pt-BR" dirty="0"/>
          </a:p>
        </p:txBody>
      </p:sp>
      <p:pic>
        <p:nvPicPr>
          <p:cNvPr id="1026" name="Picture 2" descr="C:\Users\Vinícius\Desktop\Graduacao\9 semestre\ES828\LabControle\lab10\apresentacao\motor_parad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400" y="2854800"/>
            <a:ext cx="5371200" cy="270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de cantos arredondados 3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Cálculo das variáveis elétricas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7523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3 estudos</a:t>
            </a:r>
          </a:p>
          <a:p>
            <a:pPr lvl="1"/>
            <a:r>
              <a:rPr lang="pt-BR" dirty="0" smtClean="0"/>
              <a:t>1- 2 discos rodando livremente</a:t>
            </a:r>
          </a:p>
          <a:p>
            <a:pPr lvl="1"/>
            <a:r>
              <a:rPr lang="pt-BR" dirty="0" smtClean="0"/>
              <a:t>2- disco 1 travado</a:t>
            </a:r>
          </a:p>
          <a:p>
            <a:pPr lvl="1"/>
            <a:r>
              <a:rPr lang="pt-BR" dirty="0" smtClean="0"/>
              <a:t>3- disco 2 travado</a:t>
            </a:r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Parte mecânica</a:t>
            </a:r>
            <a:endParaRPr lang="pt-BR" dirty="0"/>
          </a:p>
        </p:txBody>
      </p:sp>
      <p:sp>
        <p:nvSpPr>
          <p:cNvPr id="4" name="Retângulo de cantos arredondados 3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Calculo das variáveis mecânicas</a:t>
            </a:r>
            <a:endParaRPr lang="pt-BR" dirty="0"/>
          </a:p>
        </p:txBody>
      </p:sp>
      <p:pic>
        <p:nvPicPr>
          <p:cNvPr id="2050" name="Picture 2" descr="C:\Users\Vinícius\Desktop\Graduacao\9 semestre\ES828\LabControle\lab9\html\relatorio_0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00" y="3441170"/>
            <a:ext cx="2808390" cy="210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C:\Users\Vinícius\Desktop\Graduacao\9 semestre\ES828\LabControle\lab9\html\relatorio_0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00" y="3429000"/>
            <a:ext cx="2808390" cy="2106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Vinícius\Desktop\Graduacao\9 semestre\ES828\LabControle\lab9\html\relatorio_05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210" y="3501010"/>
            <a:ext cx="2667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656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Planta</a:t>
            </a:r>
            <a:endParaRPr lang="pt-BR" dirty="0"/>
          </a:p>
        </p:txBody>
      </p:sp>
      <p:pic>
        <p:nvPicPr>
          <p:cNvPr id="3075" name="Picture 3" descr="C:\Users\Vinícius\Desktop\Graduacao\9 semestre\ES828\LabControle\lab9\html\relatorio_eq7817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564904"/>
            <a:ext cx="8247225" cy="1264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467545" y="4221088"/>
                <a:ext cx="8247224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/>
                            </a:rPr>
                            <m:t>b</m:t>
                          </m:r>
                        </m:e>
                        <m:sub>
                          <m:r>
                            <a:rPr lang="pt-BR" b="0" i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=1,0651∗</m:t>
                      </m:r>
                      <m:sSup>
                        <m:sSup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pt-BR" b="0" i="0" smtClean="0">
                              <a:latin typeface="Cambria Math"/>
                            </a:rPr>
                            <m:t>−4</m:t>
                          </m:r>
                        </m:sup>
                      </m:sSup>
                    </m:oMath>
                  </m:oMathPara>
                </a14:m>
                <a:endParaRPr lang="pt-BR" b="0" dirty="0" smtClean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/>
                            </a:rPr>
                            <m:t>b</m:t>
                          </m:r>
                        </m:e>
                        <m:sub>
                          <m:r>
                            <a:rPr lang="pt-BR" b="0" i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=5,1545∗</m:t>
                      </m:r>
                      <m:sSup>
                        <m:sSup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pt-BR" b="0" i="0" smtClean="0">
                              <a:latin typeface="Cambria Math"/>
                            </a:rPr>
                            <m:t>−4</m:t>
                          </m:r>
                        </m:sup>
                      </m:sSup>
                    </m:oMath>
                  </m:oMathPara>
                </a14:m>
                <a:endParaRPr lang="pt-BR" b="0" dirty="0" smtClean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𝑘</m:t>
                      </m:r>
                      <m:r>
                        <a:rPr lang="pt-BR" b="0" i="1" smtClean="0">
                          <a:latin typeface="Cambria Math"/>
                        </a:rPr>
                        <m:t>=0,1989</m:t>
                      </m:r>
                    </m:oMath>
                  </m:oMathPara>
                </a14:m>
                <a:endParaRPr lang="pt-BR" b="0" i="1" dirty="0" smtClean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/>
                            </a:rPr>
                            <m:t>J</m:t>
                          </m:r>
                        </m:e>
                        <m:sub>
                          <m:r>
                            <a:rPr lang="pt-BR" b="0" i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=4,8176∗</m:t>
                      </m:r>
                      <m:sSup>
                        <m:sSup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pt-BR" b="0" i="0" smtClean="0">
                              <a:latin typeface="Cambria Math"/>
                            </a:rPr>
                            <m:t>−4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/>
                            </a:rPr>
                            <m:t>J</m:t>
                          </m:r>
                        </m:e>
                        <m:sub>
                          <m:r>
                            <a:rPr lang="pt-BR" b="0" i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=5,1345∗</m:t>
                      </m:r>
                      <m:sSup>
                        <m:sSup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pt-BR" b="0" i="0" smtClean="0">
                              <a:latin typeface="Cambria Math"/>
                            </a:rPr>
                            <m:t>−4</m:t>
                          </m:r>
                        </m:sup>
                      </m:sSup>
                    </m:oMath>
                  </m:oMathPara>
                </a14:m>
                <a:endParaRPr lang="pt-BR" b="0" dirty="0" smtClean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𝑅</m:t>
                      </m:r>
                      <m:r>
                        <a:rPr lang="pt-BR" b="0" i="1" smtClean="0">
                          <a:latin typeface="Cambria Math"/>
                        </a:rPr>
                        <m:t>=4,4581</m:t>
                      </m:r>
                    </m:oMath>
                  </m:oMathPara>
                </a14:m>
                <a:endParaRPr lang="pt-BR" dirty="0"/>
              </a:p>
              <a:p>
                <a:pPr algn="ctr"/>
                <a:endParaRPr lang="pt-BR" dirty="0"/>
              </a:p>
              <a:p>
                <a:pPr algn="ctr"/>
                <a:endParaRPr lang="pt-BR" dirty="0"/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45" y="4221088"/>
                <a:ext cx="8247224" cy="2308324"/>
              </a:xfrm>
              <a:prstGeom prst="rect">
                <a:avLst/>
              </a:prstGeom>
              <a:blipFill rotWithShape="1">
                <a:blip r:embed="rId3"/>
                <a:stretch>
                  <a:fillRect t="-1583" b="-31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849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Valores substituídos: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Planta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ço Reservado para Conteúdo 1"/>
              <p:cNvSpPr txBox="1">
                <a:spLocks/>
              </p:cNvSpPr>
              <p:nvPr/>
            </p:nvSpPr>
            <p:spPr>
              <a:xfrm>
                <a:off x="533399" y="1871471"/>
                <a:ext cx="8407893" cy="440740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74320" indent="-228600" algn="l" defTabSz="914400" rtl="0" eaLnBrk="1" latinLnBrk="0" hangingPunct="1">
                  <a:spcBef>
                    <a:spcPct val="20000"/>
                  </a:spcBef>
                  <a:buClr>
                    <a:schemeClr val="accent1"/>
                  </a:buClr>
                  <a:buFont typeface="Wingdings 2" pitchFamily="18" charset="2"/>
                  <a:buChar char=""/>
                  <a:defRPr sz="2000" kern="1200" spc="15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182880" algn="l" defTabSz="914400" rtl="0" eaLnBrk="1" latinLnBrk="0" hangingPunct="1">
                  <a:spcBef>
                    <a:spcPct val="20000"/>
                  </a:spcBef>
                  <a:buClr>
                    <a:schemeClr val="accent2"/>
                  </a:buClr>
                  <a:buFont typeface="Wingdings" pitchFamily="2" charset="2"/>
                  <a:buChar char="§"/>
                  <a:defRPr sz="1800" kern="1200" spc="1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182880" algn="l" defTabSz="914400" rtl="0" eaLnBrk="1" latinLnBrk="0" hangingPunct="1">
                  <a:spcBef>
                    <a:spcPct val="20000"/>
                  </a:spcBef>
                  <a:buClr>
                    <a:schemeClr val="accent3"/>
                  </a:buClr>
                  <a:buFont typeface="Wingdings" pitchFamily="2" charset="2"/>
                  <a:buChar char="§"/>
                  <a:defRPr sz="1600" kern="1200" spc="1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182880" algn="l" defTabSz="914400" rtl="0" eaLnBrk="1" latinLnBrk="0" hangingPunct="1">
                  <a:spcBef>
                    <a:spcPct val="20000"/>
                  </a:spcBef>
                  <a:buClr>
                    <a:schemeClr val="accent4"/>
                  </a:buClr>
                  <a:buFont typeface="Wingdings" pitchFamily="2" charset="2"/>
                  <a:buChar char="§"/>
                  <a:defRPr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280160" indent="-182880" algn="l" defTabSz="914400" rtl="0" eaLnBrk="1" latinLnBrk="0" hangingPunct="1">
                  <a:spcBef>
                    <a:spcPct val="20000"/>
                  </a:spcBef>
                  <a:buClr>
                    <a:schemeClr val="accent6"/>
                  </a:buClr>
                  <a:buFont typeface="Wingdings" pitchFamily="2" charset="2"/>
                  <a:buChar char="§"/>
                  <a:defRPr sz="1300" kern="1200" spc="1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554480" indent="-182880" algn="l" defTabSz="914400" rtl="0" eaLnBrk="1" latinLnBrk="0" hangingPunct="1">
                  <a:spcBef>
                    <a:spcPct val="20000"/>
                  </a:spcBef>
                  <a:buClr>
                    <a:schemeClr val="accent1"/>
                  </a:buClr>
                  <a:buFont typeface="Wingdings" pitchFamily="2" charset="2"/>
                  <a:buChar char="§"/>
                  <a:defRPr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defTabSz="914400" rtl="0" eaLnBrk="1" latinLnBrk="0" hangingPunct="1">
                  <a:spcBef>
                    <a:spcPct val="20000"/>
                  </a:spcBef>
                  <a:buClr>
                    <a:schemeClr val="accent2"/>
                  </a:buClr>
                  <a:buFont typeface="Wingdings" pitchFamily="2" charset="2"/>
                  <a:buChar char="§"/>
                  <a:defRPr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103120" indent="-182880" algn="l" defTabSz="914400" rtl="0" eaLnBrk="1" latinLnBrk="0" hangingPunct="1">
                  <a:spcBef>
                    <a:spcPct val="20000"/>
                  </a:spcBef>
                  <a:buClr>
                    <a:schemeClr val="accent3"/>
                  </a:buClr>
                  <a:buFont typeface="Wingdings" pitchFamily="2" charset="2"/>
                  <a:buChar char="§"/>
                  <a:defRPr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377440" indent="-182880" algn="l" defTabSz="914400" rtl="0" eaLnBrk="1" latinLnBrk="0" hangingPunct="1">
                  <a:spcBef>
                    <a:spcPct val="20000"/>
                  </a:spcBef>
                  <a:buClr>
                    <a:schemeClr val="accent5"/>
                  </a:buClr>
                  <a:buFont typeface="Wingdings" pitchFamily="2" charset="2"/>
                  <a:buChar char="§"/>
                  <a:defRPr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" indent="0">
                  <a:buFont typeface="Wingdings 2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i="1" smtClean="0">
                              <a:latin typeface="Cambria Math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 smtClean="0">
                                  <a:latin typeface="Cambria Math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pt-BR" i="1" smtClean="0">
                                        <a:latin typeface="Cambria Math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i="1" smtClean="0">
                                            <a:latin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 smtClean="0"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 smtClean="0">
                                            <a:latin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pt-BR" i="1">
                                        <a:latin typeface="Cambria Math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i="1" smtClean="0">
                                            <a:latin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 smtClean="0">
                                            <a:latin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pt-BR" i="1">
                                        <a:latin typeface="Cambria Math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 smtClean="0">
                                            <a:latin typeface="Cambria Math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pt-BR" i="1" smtClean="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 smtClean="0">
                              <a:latin typeface="Cambria Math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 smtClean="0">
                                  <a:latin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−412,9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−2,875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387,4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−1,004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 smtClean="0">
                              <a:latin typeface="Cambria Math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 smtClean="0">
                                  <a:latin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pt-BR" i="1" smtClean="0">
                          <a:latin typeface="Cambria Math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 smtClean="0">
                              <a:latin typeface="Cambria Math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 smtClean="0">
                                  <a:latin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35,15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i="1" smtClean="0">
                          <a:latin typeface="Cambria Math"/>
                        </a:rPr>
                        <m:t>∗</m:t>
                      </m:r>
                      <m:r>
                        <a:rPr lang="pt-BR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Espaço Reservado para Conteúdo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1871471"/>
                <a:ext cx="8407893" cy="4407408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5541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Comparação</a:t>
            </a:r>
            <a:endParaRPr lang="pt-BR" dirty="0"/>
          </a:p>
        </p:txBody>
      </p:sp>
      <p:pic>
        <p:nvPicPr>
          <p:cNvPr id="4098" name="Picture 2" descr="C:\Users\Vinícius\Desktop\Graduacao\9 semestre\ES828\LabControle\lab9\html\relatorio_0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1700760"/>
            <a:ext cx="5334000" cy="400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de cantos arredondados 4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Planta teórica muito diferente!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19926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Controlador PI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Estrutura do controlador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ixaDeTexto 3"/>
              <p:cNvSpPr txBox="1"/>
              <p:nvPr/>
            </p:nvSpPr>
            <p:spPr>
              <a:xfrm>
                <a:off x="2707483" y="3094261"/>
                <a:ext cx="3729034" cy="6694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𝐶</m:t>
                      </m:r>
                      <m:d>
                        <m:d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den>
                      </m:f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/>
                            </a:rPr>
                            <m:t>∗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type m:val="lin"/>
                                  <m:ctrlPr>
                                    <a:rPr lang="en-US" b="0" i="1" smtClean="0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/>
                                        </a:rPr>
                                        <m:t>𝑝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7483" y="3094261"/>
                <a:ext cx="3729034" cy="669479"/>
              </a:xfrm>
              <a:prstGeom prst="rect">
                <a:avLst/>
              </a:prstGeom>
              <a:blipFill rotWithShape="1">
                <a:blip r:embed="rId3"/>
                <a:stretch>
                  <a:fillRect r="-17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tângulo de cantos arredondados 6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Controlador robusto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3714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Controle PI pelo </a:t>
            </a:r>
            <a:r>
              <a:rPr lang="pt-BR" dirty="0" err="1" smtClean="0"/>
              <a:t>Sisotool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Controle Planta teórica</a:t>
            </a:r>
          </a:p>
        </p:txBody>
      </p:sp>
      <p:pic>
        <p:nvPicPr>
          <p:cNvPr id="5122" name="Picture 2" descr="C:\Users\Vinícius\Desktop\Graduacao\9 semestre\ES828\LabControle\lab10\controlador_sisotoo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10" y="2286919"/>
            <a:ext cx="4173756" cy="4022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C:\Users\Vinícius\Desktop\Graduacao\9 semestre\ES828\LabControle\lab10\saidas_sisotool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7189" y="2286919"/>
            <a:ext cx="4153818" cy="4022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/>
              <p:cNvSpPr txBox="1"/>
              <p:nvPr/>
            </p:nvSpPr>
            <p:spPr>
              <a:xfrm>
                <a:off x="5780111" y="1628750"/>
                <a:ext cx="2320379" cy="612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𝑠𝑖𝑠𝑜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=1.1+</m:t>
                      </m:r>
                      <m:f>
                        <m:f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/>
                            </a:rPr>
                            <m:t>11.6</m:t>
                          </m:r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6" name="CaixaDeTexto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111" y="1628750"/>
                <a:ext cx="2320379" cy="612796"/>
              </a:xfrm>
              <a:prstGeom prst="rect">
                <a:avLst/>
              </a:prstGeom>
              <a:blipFill rotWithShape="1">
                <a:blip r:embed="rId5"/>
                <a:stretch>
                  <a:fillRect r="-31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2463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Resultado prático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Controle Planta </a:t>
            </a:r>
            <a:r>
              <a:rPr lang="pt-BR" dirty="0"/>
              <a:t>t</a:t>
            </a:r>
            <a:r>
              <a:rPr lang="pt-BR" dirty="0" smtClean="0"/>
              <a:t>eórica</a:t>
            </a:r>
            <a:endParaRPr lang="pt-BR" dirty="0"/>
          </a:p>
        </p:txBody>
      </p:sp>
      <p:pic>
        <p:nvPicPr>
          <p:cNvPr id="5" name="Picture 3" descr="C:\Users\Vinícius\Desktop\Graduacao\9 semestre\ES828\LabControle\lab10\html\velocidades_0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8" y="2214909"/>
            <a:ext cx="4012110" cy="349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C:\Users\Vinícius\Desktop\Graduacao\9 semestre\ES828\LabControle\lab10\html\velocidades_0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2898" y="2214908"/>
            <a:ext cx="4014000" cy="344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tângulo de cantos arredondados 6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Controle na planta teórica não condizente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45893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Controle proporcional</a:t>
            </a:r>
            <a:endParaRPr lang="pt-BR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Não segue o degrau</a:t>
            </a:r>
            <a:endParaRPr lang="pt-BR" dirty="0"/>
          </a:p>
        </p:txBody>
      </p:sp>
      <p:pic>
        <p:nvPicPr>
          <p:cNvPr id="6153" name="Picture 9" descr="C:\Users\Vinícius\Desktop\Graduacao\9 semestre\ES828\LabControle\lab10\html\velocidades_05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010" y="1988800"/>
            <a:ext cx="4297624" cy="3223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C:\Users\Vinícius\Desktop\Graduacao\9 semestre\ES828\LabControle\lab10\html\velocidades_0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7" y="1988800"/>
            <a:ext cx="4320533" cy="324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6974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Controlador PI</a:t>
            </a:r>
            <a:endParaRPr lang="pt-BR" dirty="0"/>
          </a:p>
        </p:txBody>
      </p:sp>
      <p:pic>
        <p:nvPicPr>
          <p:cNvPr id="7172" name="Picture 4" descr="C:\Users\Vinícius\Desktop\Graduacao\9 semestre\ES828\LabControle\lab10\html\velocidades_0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420" y="1700808"/>
            <a:ext cx="5334000" cy="400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tângulo de cantos arredondados 7"/>
          <p:cNvSpPr/>
          <p:nvPr/>
        </p:nvSpPr>
        <p:spPr>
          <a:xfrm>
            <a:off x="827584" y="5661248"/>
            <a:ext cx="7488832" cy="9361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Parâmetros do verde cumprem os requisitos:</a:t>
            </a:r>
          </a:p>
          <a:p>
            <a:pPr algn="ctr"/>
            <a:r>
              <a:rPr lang="pt-BR" dirty="0" smtClean="0"/>
              <a:t>Tempo de estabilização – 5,3s</a:t>
            </a:r>
          </a:p>
          <a:p>
            <a:pPr algn="ctr"/>
            <a:r>
              <a:rPr lang="pt-BR" dirty="0" smtClean="0"/>
              <a:t>Sobressinal – 5,4%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ixaDeTexto 3"/>
              <p:cNvSpPr txBox="1"/>
              <p:nvPr/>
            </p:nvSpPr>
            <p:spPr>
              <a:xfrm>
                <a:off x="6084210" y="3394660"/>
                <a:ext cx="2169440" cy="612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𝑣𝑒𝑟𝑑𝑒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=2+</m:t>
                      </m:r>
                      <m:f>
                        <m:fPr>
                          <m:ctrlPr>
                            <a:rPr lang="en-US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/>
                            </a:rPr>
                            <m:t>0.1</m:t>
                          </m:r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210" y="3394660"/>
                <a:ext cx="2169440" cy="612796"/>
              </a:xfrm>
              <a:prstGeom prst="rect">
                <a:avLst/>
              </a:prstGeom>
              <a:blipFill rotWithShape="1">
                <a:blip r:embed="rId3"/>
                <a:stretch>
                  <a:fillRect r="-3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977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Controlador PI</a:t>
            </a:r>
          </a:p>
        </p:txBody>
      </p:sp>
      <p:pic>
        <p:nvPicPr>
          <p:cNvPr id="4" name="Picture 5" descr="C:\Users\Vinícius\Desktop\Graduacao\9 semestre\ES828\LabControle\lab10\html\velocidades_0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420" y="1700808"/>
            <a:ext cx="5334000" cy="400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de cantos arredondados 4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Sinal de controle </a:t>
            </a:r>
            <a:r>
              <a:rPr lang="pt-BR" dirty="0" smtClean="0"/>
              <a:t>satura nos 6s iniciais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37626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de cantos arredondados 3"/>
          <p:cNvSpPr/>
          <p:nvPr/>
        </p:nvSpPr>
        <p:spPr>
          <a:xfrm>
            <a:off x="827584" y="3068970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Perguntas?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208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rade">
  <a:themeElements>
    <a:clrScheme name="Personalizada 2">
      <a:dk1>
        <a:sysClr val="windowText" lastClr="000000"/>
      </a:dk1>
      <a:lt1>
        <a:sysClr val="window" lastClr="FFFFFF"/>
      </a:lt1>
      <a:dk2>
        <a:srgbClr val="534949"/>
      </a:dk2>
      <a:lt2>
        <a:srgbClr val="FFFFFF"/>
      </a:lt2>
      <a:accent1>
        <a:srgbClr val="A5A5A5"/>
      </a:accent1>
      <a:accent2>
        <a:srgbClr val="BF974D"/>
      </a:accent2>
      <a:accent3>
        <a:srgbClr val="928B70"/>
      </a:accent3>
      <a:accent4>
        <a:srgbClr val="87706B"/>
      </a:accent4>
      <a:accent5>
        <a:srgbClr val="94734E"/>
      </a:accent5>
      <a:accent6>
        <a:srgbClr val="6F777D"/>
      </a:accent6>
      <a:hlink>
        <a:srgbClr val="CC9900"/>
      </a:hlink>
      <a:folHlink>
        <a:srgbClr val="C0C0C0"/>
      </a:folHlink>
    </a:clrScheme>
    <a:fontScheme name="Grade">
      <a:maj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inorFont>
    </a:fontScheme>
    <a:fmtScheme name="Grade">
      <a:fillStyleLst>
        <a:solidFill>
          <a:schemeClr val="phClr"/>
        </a:solidFill>
        <a:solidFill>
          <a:schemeClr val="phClr">
            <a:tint val="5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175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3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3000"/>
                <a:satMod val="11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Grid</Template>
  <TotalTime>107</TotalTime>
  <Words>308</Words>
  <Application>Microsoft Office PowerPoint</Application>
  <PresentationFormat>Apresentação na tela (4:3)</PresentationFormat>
  <Paragraphs>53</Paragraphs>
  <Slides>15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Grade</vt:lpstr>
      <vt:lpstr>Projeto 10 - controle de sistema torcional com dois discos</vt:lpstr>
      <vt:lpstr>Estudo da Planta</vt:lpstr>
      <vt:lpstr>Labview</vt:lpstr>
      <vt:lpstr>Parte elétrica</vt:lpstr>
      <vt:lpstr>Parte mecânica</vt:lpstr>
      <vt:lpstr>Planta</vt:lpstr>
      <vt:lpstr>Planta</vt:lpstr>
      <vt:lpstr>Comparação</vt:lpstr>
      <vt:lpstr>Estrutura do controlador</vt:lpstr>
      <vt:lpstr>Controle Planta teórica</vt:lpstr>
      <vt:lpstr>Controle Planta teórica</vt:lpstr>
      <vt:lpstr>Controle proporcional</vt:lpstr>
      <vt:lpstr>Controlador PI</vt:lpstr>
      <vt:lpstr>Controlador PI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10- controle de sistema torcional com dois discos</dc:title>
  <dc:creator>Vinícius</dc:creator>
  <cp:lastModifiedBy>Guilherme Souza</cp:lastModifiedBy>
  <cp:revision>18</cp:revision>
  <dcterms:created xsi:type="dcterms:W3CDTF">2015-06-20T20:55:20Z</dcterms:created>
  <dcterms:modified xsi:type="dcterms:W3CDTF">2015-06-22T00:00:11Z</dcterms:modified>
</cp:coreProperties>
</file>