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sldIdLst>
    <p:sldId id="256" r:id="rId2"/>
    <p:sldId id="258" r:id="rId3"/>
    <p:sldId id="259" r:id="rId4"/>
    <p:sldId id="257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A0F26-9B60-4B38-AC42-ED18EBBC8C57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B7A82-F351-430A-9421-B35340673F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55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2B7A82-F351-430A-9421-B35340673FD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46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DCEE50A4-59EC-442D-9CC5-E9AD2F2F923F}" type="datetimeFigureOut">
              <a:rPr lang="pt-BR" smtClean="0"/>
              <a:t>20/06/2015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3DA596CD-2F16-4D6F-A3B8-940AFE0EC35F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5229200"/>
            <a:ext cx="4572000" cy="1368798"/>
          </a:xfrm>
        </p:spPr>
        <p:txBody>
          <a:bodyPr>
            <a:normAutofit/>
          </a:bodyPr>
          <a:lstStyle/>
          <a:p>
            <a:r>
              <a:rPr lang="pt-BR" dirty="0" smtClean="0"/>
              <a:t>Augusto Miranda – 104627</a:t>
            </a:r>
          </a:p>
          <a:p>
            <a:r>
              <a:rPr lang="pt-BR" dirty="0" smtClean="0"/>
              <a:t>Guilherme Souza - 117093</a:t>
            </a:r>
          </a:p>
          <a:p>
            <a:r>
              <a:rPr lang="pt-BR" smtClean="0"/>
              <a:t>Vinícius David - 120258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Projeto 10 - controle de sistema </a:t>
            </a:r>
            <a:r>
              <a:rPr lang="pt-BR" dirty="0" err="1" smtClean="0"/>
              <a:t>torcional</a:t>
            </a:r>
            <a:r>
              <a:rPr lang="pt-BR" dirty="0" smtClean="0"/>
              <a:t> com dois discos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2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Parte mecânica</a:t>
            </a:r>
          </a:p>
          <a:p>
            <a:r>
              <a:rPr lang="pt-BR" dirty="0" smtClean="0"/>
              <a:t>Parte elétrica</a:t>
            </a:r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Estudo da Planta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59" y="2852936"/>
            <a:ext cx="5372282" cy="288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1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Estudo com discos travados</a:t>
            </a:r>
          </a:p>
          <a:p>
            <a:r>
              <a:rPr lang="pt-BR" dirty="0" smtClean="0"/>
              <a:t>R=1</a:t>
            </a:r>
            <a:r>
              <a:rPr lang="el-GR" dirty="0" smtClean="0"/>
              <a:t>Ω</a:t>
            </a:r>
            <a:endParaRPr lang="pt-BR" dirty="0" smtClean="0"/>
          </a:p>
          <a:p>
            <a:r>
              <a:rPr lang="pt-BR" dirty="0" smtClean="0"/>
              <a:t>L=0H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Parte elétrica</a:t>
            </a:r>
            <a:endParaRPr lang="pt-BR" dirty="0"/>
          </a:p>
        </p:txBody>
      </p:sp>
      <p:pic>
        <p:nvPicPr>
          <p:cNvPr id="1026" name="Picture 2" descr="C:\Users\Vinícius\Desktop\Graduacao\9 semestre\ES828\LabControle\lab10\apresentacao\motor_par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0" y="2854800"/>
            <a:ext cx="5371200" cy="270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de cantos arredondados 3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Cálculo das variáveis elétricas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523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3 estudos</a:t>
            </a:r>
          </a:p>
          <a:p>
            <a:pPr lvl="1"/>
            <a:r>
              <a:rPr lang="pt-BR" dirty="0" smtClean="0"/>
              <a:t>1- 2 discos rodando livremente</a:t>
            </a:r>
          </a:p>
          <a:p>
            <a:pPr lvl="1"/>
            <a:r>
              <a:rPr lang="pt-BR" dirty="0" smtClean="0"/>
              <a:t>2- disco 1 travado</a:t>
            </a:r>
          </a:p>
          <a:p>
            <a:pPr lvl="1"/>
            <a:r>
              <a:rPr lang="pt-BR" dirty="0" smtClean="0"/>
              <a:t>3- disco 2 travado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Parte mecânica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Calculo das variáveis mecânicas</a:t>
            </a:r>
            <a:endParaRPr lang="pt-BR" dirty="0"/>
          </a:p>
        </p:txBody>
      </p:sp>
      <p:pic>
        <p:nvPicPr>
          <p:cNvPr id="2050" name="Picture 2" descr="C:\Users\Vinícius\Desktop\Graduacao\9 semestre\ES828\LabControle\lab9\html\relatorio_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3441170"/>
            <a:ext cx="2808390" cy="210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Vinícius\Desktop\Graduacao\9 semestre\ES828\LabControle\lab9\html\relatorio_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00" y="3429000"/>
            <a:ext cx="2808390" cy="210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Vinícius\Desktop\Graduacao\9 semestre\ES828\LabControle\lab9\html\relatorio_0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10" y="3501010"/>
            <a:ext cx="2667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65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Planta</a:t>
            </a:r>
            <a:endParaRPr lang="pt-BR" dirty="0"/>
          </a:p>
        </p:txBody>
      </p:sp>
      <p:pic>
        <p:nvPicPr>
          <p:cNvPr id="3075" name="Picture 3" descr="C:\Users\Vinícius\Desktop\Graduacao\9 semestre\ES828\LabControle\lab9\html\relatorio_eq7817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64904"/>
            <a:ext cx="8247225" cy="126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467545" y="4221088"/>
                <a:ext cx="82472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=1,0651∗</m:t>
                      </m:r>
                      <m:sSup>
                        <m:sSup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pt-BR" b="0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5,1545∗</m:t>
                      </m:r>
                      <m:sSup>
                        <m:sSup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pt-BR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𝑘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0,1989</m:t>
                      </m:r>
                    </m:oMath>
                  </m:oMathPara>
                </a14:m>
                <a:endParaRPr lang="pt-BR" b="0" i="1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4,8176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i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pt-BR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5,1345</m:t>
                      </m:r>
                      <m:r>
                        <a:rPr lang="pt-BR" b="0" i="0" smtClean="0">
                          <a:latin typeface="Cambria Math"/>
                        </a:rPr>
                        <m:t>∗</m:t>
                      </m:r>
                      <m:sSup>
                        <m:sSupPr>
                          <m:ctrlPr>
                            <a:rPr lang="pt-BR" b="0" i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pt-BR" b="0" i="0" smtClean="0">
                              <a:latin typeface="Cambria Math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pt-BR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𝑅</m:t>
                      </m:r>
                      <m:r>
                        <a:rPr lang="pt-BR" b="0" i="1" smtClean="0">
                          <a:latin typeface="Cambria Math"/>
                        </a:rPr>
                        <m:t>=4,4581</m:t>
                      </m:r>
                    </m:oMath>
                  </m:oMathPara>
                </a14:m>
                <a:endParaRPr lang="pt-BR" dirty="0"/>
              </a:p>
              <a:p>
                <a:pPr algn="ctr"/>
                <a:endParaRPr lang="pt-BR" dirty="0"/>
              </a:p>
              <a:p>
                <a:pPr algn="ctr"/>
                <a:endParaRPr lang="pt-BR" dirty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4221088"/>
                <a:ext cx="8247224" cy="2308324"/>
              </a:xfrm>
              <a:prstGeom prst="rect">
                <a:avLst/>
              </a:prstGeom>
              <a:blipFill rotWithShape="1">
                <a:blip r:embed="rId3"/>
                <a:stretch>
                  <a:fillRect t="-1583" b="-31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84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Valores substituídos: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Planta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1"/>
              <p:cNvSpPr txBox="1">
                <a:spLocks/>
              </p:cNvSpPr>
              <p:nvPr/>
            </p:nvSpPr>
            <p:spPr>
              <a:xfrm>
                <a:off x="533399" y="1871471"/>
                <a:ext cx="8407893" cy="440740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7432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 2" pitchFamily="18" charset="2"/>
                  <a:buChar char=""/>
                  <a:defRPr sz="2000" kern="1200" spc="15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8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 pitchFamily="2" charset="2"/>
                  <a:buChar char="§"/>
                  <a:defRPr sz="16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 pitchFamily="2" charset="2"/>
                  <a:buChar char="§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spcBef>
                    <a:spcPct val="20000"/>
                  </a:spcBef>
                  <a:buClr>
                    <a:schemeClr val="accent6"/>
                  </a:buClr>
                  <a:buFont typeface="Wingdings" pitchFamily="2" charset="2"/>
                  <a:buChar char="§"/>
                  <a:defRPr sz="1300" kern="1200" spc="1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55448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377440" indent="-18288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Wingdings" pitchFamily="2" charset="2"/>
                  <a:buChar char="§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buFont typeface="Wingdings 2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pt-BR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 smtClean="0">
                                            <a:latin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412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875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387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004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35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pt-BR" i="1" smtClean="0">
                                    <a:latin typeface="Cambria Math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i="1" smtClean="0">
                          <a:latin typeface="Cambria Math"/>
                        </a:rPr>
                        <m:t>∗</m:t>
                      </m:r>
                      <m:r>
                        <a:rPr lang="pt-BR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4" name="Espaço Reservado para Conteúd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9" y="1871471"/>
                <a:ext cx="8407893" cy="440740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54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Comparação</a:t>
            </a:r>
            <a:endParaRPr lang="pt-BR" dirty="0"/>
          </a:p>
        </p:txBody>
      </p:sp>
      <p:pic>
        <p:nvPicPr>
          <p:cNvPr id="4098" name="Picture 2" descr="C:\Users\Vinícius\Desktop\Graduacao\9 semestre\ES828\LabControle\lab9\html\relatorio_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0076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Planta teórica muito diferente!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92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Controle PI pelo </a:t>
            </a:r>
            <a:r>
              <a:rPr lang="pt-BR" dirty="0" err="1" smtClean="0"/>
              <a:t>Sisotool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Controle Planta teórica</a:t>
            </a:r>
          </a:p>
        </p:txBody>
      </p:sp>
      <p:pic>
        <p:nvPicPr>
          <p:cNvPr id="5122" name="Picture 2" descr="C:\Users\Vinícius\Desktop\Graduacao\9 semestre\ES828\LabControle\lab10\controlador_sisotoo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14909"/>
            <a:ext cx="3626551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Vinícius\Desktop\Graduacao\9 semestre\ES828\LabControle\lab10\saidas_sisotoo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189" y="2214909"/>
            <a:ext cx="3609227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71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Resultado prático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Controle Planta </a:t>
            </a:r>
            <a:r>
              <a:rPr lang="pt-BR" dirty="0"/>
              <a:t>t</a:t>
            </a:r>
            <a:r>
              <a:rPr lang="pt-BR" dirty="0" smtClean="0"/>
              <a:t>eórica</a:t>
            </a:r>
            <a:endParaRPr lang="pt-BR" dirty="0"/>
          </a:p>
        </p:txBody>
      </p:sp>
      <p:pic>
        <p:nvPicPr>
          <p:cNvPr id="5" name="Picture 3" descr="C:\Users\Vinícius\Desktop\Graduacao\9 semestre\ES828\LabControle\lab10\html\velocidades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8" y="2214909"/>
            <a:ext cx="4012110" cy="34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Vinícius\Desktop\Graduacao\9 semestre\ES828\LabControle\lab10\html\velocidades_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898" y="2214908"/>
            <a:ext cx="4014000" cy="344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de cantos arredondados 6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Controle na planta teórica não condizente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589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Controle proporcional</a:t>
            </a:r>
            <a:endParaRPr lang="pt-BR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Não segue o degrau</a:t>
            </a:r>
            <a:endParaRPr lang="pt-BR" dirty="0"/>
          </a:p>
        </p:txBody>
      </p:sp>
      <p:pic>
        <p:nvPicPr>
          <p:cNvPr id="6153" name="Picture 9" descr="C:\Users\Vinícius\Desktop\Graduacao\9 semestre\ES828\LabControle\lab10\html\velocidades_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10" y="1988800"/>
            <a:ext cx="4297624" cy="322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C:\Users\Vinícius\Desktop\Graduacao\9 semestre\ES828\LabControle\lab10\html\velocidades_0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7" y="1988800"/>
            <a:ext cx="4320533" cy="32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97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 smtClean="0"/>
              <a:t>Controlador PI</a:t>
            </a:r>
            <a:endParaRPr lang="pt-BR" dirty="0"/>
          </a:p>
        </p:txBody>
      </p:sp>
      <p:pic>
        <p:nvPicPr>
          <p:cNvPr id="7172" name="Picture 4" descr="C:\Users\Vinícius\Desktop\Graduacao\9 semestre\ES828\LabControle\lab10\html\velocidades_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0808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de cantos arredondados 7"/>
          <p:cNvSpPr/>
          <p:nvPr/>
        </p:nvSpPr>
        <p:spPr>
          <a:xfrm>
            <a:off x="827584" y="5661248"/>
            <a:ext cx="7488832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Parâmetros do verde cumprem os requisitos:</a:t>
            </a:r>
          </a:p>
          <a:p>
            <a:pPr algn="ctr"/>
            <a:r>
              <a:rPr lang="pt-BR" dirty="0" smtClean="0"/>
              <a:t>Tempo de estabilização – 5,3s</a:t>
            </a:r>
          </a:p>
          <a:p>
            <a:pPr algn="ctr"/>
            <a:r>
              <a:rPr lang="pt-BR" dirty="0" smtClean="0"/>
              <a:t>Sobressinal – 5,4%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697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Controlador PI</a:t>
            </a:r>
          </a:p>
        </p:txBody>
      </p:sp>
      <p:pic>
        <p:nvPicPr>
          <p:cNvPr id="4" name="Picture 5" descr="C:\Users\Vinícius\Desktop\Graduacao\9 semestre\ES828\LabControle\lab10\html\velocidades_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700808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827584" y="5661248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Sinal de controle satura até 6s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762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827584" y="3068970"/>
            <a:ext cx="74888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Perguntas?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208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de">
  <a:themeElements>
    <a:clrScheme name="Personalizada 2">
      <a:dk1>
        <a:sysClr val="windowText" lastClr="000000"/>
      </a:dk1>
      <a:lt1>
        <a:sysClr val="window" lastClr="FFFFFF"/>
      </a:lt1>
      <a:dk2>
        <a:srgbClr val="534949"/>
      </a:dk2>
      <a:lt2>
        <a:srgbClr val="FFFFFF"/>
      </a:lt2>
      <a:accent1>
        <a:srgbClr val="A5A5A5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Grad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ad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83</TotalTime>
  <Words>240</Words>
  <Application>Microsoft Office PowerPoint</Application>
  <PresentationFormat>Apresentação na tela (4:3)</PresentationFormat>
  <Paragraphs>45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Grade</vt:lpstr>
      <vt:lpstr>Projeto 10 - controle de sistema torcional com dois discos</vt:lpstr>
      <vt:lpstr>Estudo da Planta</vt:lpstr>
      <vt:lpstr>Parte elétrica</vt:lpstr>
      <vt:lpstr>Parte mecânica</vt:lpstr>
      <vt:lpstr>Planta</vt:lpstr>
      <vt:lpstr>Planta</vt:lpstr>
      <vt:lpstr>Comparação</vt:lpstr>
      <vt:lpstr>Controle Planta teórica</vt:lpstr>
      <vt:lpstr>Controle Planta teórica</vt:lpstr>
      <vt:lpstr>Controle proporcional</vt:lpstr>
      <vt:lpstr>Controlador PI</vt:lpstr>
      <vt:lpstr>Controlador PI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10- controle de sistema torcional com dois discos</dc:title>
  <dc:creator>Vinícius</dc:creator>
  <cp:lastModifiedBy>Vinícius</cp:lastModifiedBy>
  <cp:revision>15</cp:revision>
  <dcterms:created xsi:type="dcterms:W3CDTF">2015-06-20T20:55:20Z</dcterms:created>
  <dcterms:modified xsi:type="dcterms:W3CDTF">2015-06-20T22:18:50Z</dcterms:modified>
</cp:coreProperties>
</file>